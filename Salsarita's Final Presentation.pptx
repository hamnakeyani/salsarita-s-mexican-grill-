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EBB64A-A87D-4475-B208-123F2DD38D1E}">
  <a:tblStyle styleId="{67EBB64A-A87D-4475-B208-123F2DD38D1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75923156c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75923156c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75923156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75923156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7592315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7592315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75923156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75923156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6c1bc403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6c1bc403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6c1bc403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6c1bc403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ada061e0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ada061e0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6c1bc403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6c1bc403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69212a7f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69212a7f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69212a7f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69212a7f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69212a7f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69212a7f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aa925e5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aa925e5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69212a7f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69212a7f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ada061e0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ada061e0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6c1bc403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6c1bc403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69212a7f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69212a7f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1300"/>
            <a:ext cx="8839200" cy="264089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702050" y="589100"/>
            <a:ext cx="60996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50">
                <a:solidFill>
                  <a:schemeClr val="dk2"/>
                </a:solidFill>
              </a:rPr>
              <a:t>FINAL PROJECT PRESENTATION</a:t>
            </a:r>
            <a:endParaRPr sz="400">
              <a:solidFill>
                <a:schemeClr val="dk2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487" y="4118564"/>
            <a:ext cx="2051725" cy="8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520642" y="1152475"/>
            <a:ext cx="523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Impetus of Project</a:t>
            </a:r>
            <a:endParaRPr sz="16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Mission Statement</a:t>
            </a:r>
            <a:endParaRPr sz="16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Project objectives</a:t>
            </a:r>
            <a:endParaRPr sz="16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Deliverable &amp; Objective Alignment</a:t>
            </a:r>
            <a:endParaRPr sz="16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Deliverables: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marR="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Dashboard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Recommendation report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User Manual</a:t>
            </a:r>
            <a:endParaRPr sz="16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Rhetorical</a:t>
            </a:r>
            <a:r>
              <a:rPr lang="en" sz="1650">
                <a:solidFill>
                  <a:schemeClr val="dk1"/>
                </a:solidFill>
              </a:rPr>
              <a:t> &amp; Design Strategies</a:t>
            </a:r>
            <a:endParaRPr sz="16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Takeaways</a:t>
            </a:r>
            <a:endParaRPr sz="165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AGENDA</a:t>
            </a:r>
            <a:endParaRPr sz="4100"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2651" y="0"/>
            <a:ext cx="2000225" cy="23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79125"/>
            <a:ext cx="9144000" cy="16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Google Shape;69;p15"/>
          <p:cNvGraphicFramePr/>
          <p:nvPr/>
        </p:nvGraphicFramePr>
        <p:xfrm>
          <a:off x="484325" y="99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{67EBB64A-A87D-4475-B208-123F2DD38D1E}</a:tableStyleId>
              </a:tblPr>
              <a:tblGrid>
                <a:gridCol w="1524000"/>
                <a:gridCol w="4724400"/>
              </a:tblGrid>
              <a:tr h="733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Who?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●Salsarita’s Fresh Mexican Grill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1270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●Leadership and customers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What?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●Outdated dashboard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1270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●No visibility into customer sentiment scores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1270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●No visibility into guest comment history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1270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●No capability for proactive intervention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Why does it matter?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●Poor strategic decision making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1270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●Missed customer service issues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1270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●Inability to identify trends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1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What is the impact?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●Inconsistent customer experience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1270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●Reduced customer satisfaction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1270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●Missed opportunities for improvement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4900" y="152403"/>
            <a:ext cx="2086700" cy="241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85224"/>
            <a:ext cx="9144000" cy="1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0" y="-190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</a:rPr>
              <a:t>Impetus of Project</a:t>
            </a:r>
            <a:r>
              <a:rPr lang="en" sz="800">
                <a:solidFill>
                  <a:schemeClr val="dk2"/>
                </a:solidFill>
              </a:rPr>
              <a:t>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637300" y="356075"/>
            <a:ext cx="3869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60E9F"/>
                </a:solidFill>
              </a:rPr>
              <a:t>PROBLEM STATEMENT</a:t>
            </a:r>
            <a:r>
              <a:rPr lang="en" sz="1100">
                <a:solidFill>
                  <a:srgbClr val="060E9F"/>
                </a:solidFill>
              </a:rPr>
              <a:t> </a:t>
            </a:r>
            <a:endParaRPr>
              <a:solidFill>
                <a:srgbClr val="060E9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5941" y="179000"/>
            <a:ext cx="1940050" cy="224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504450" y="1355154"/>
            <a:ext cx="27519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33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No</a:t>
            </a:r>
            <a:r>
              <a:rPr lang="en" sz="1650">
                <a:solidFill>
                  <a:schemeClr val="dk1"/>
                </a:solidFill>
              </a:rPr>
              <a:t> timely, actionable visibility into customer experience data. 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Reporting frequency prevents trend analysis. 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No centralized way to track :</a:t>
            </a:r>
            <a:endParaRPr sz="1650">
              <a:solidFill>
                <a:schemeClr val="dk1"/>
              </a:solidFill>
            </a:endParaRPr>
          </a:p>
          <a:p>
            <a:pPr indent="-33337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○"/>
            </a:pPr>
            <a:r>
              <a:rPr lang="en" sz="1650">
                <a:solidFill>
                  <a:schemeClr val="dk1"/>
                </a:solidFill>
              </a:rPr>
              <a:t>Guest comment history </a:t>
            </a:r>
            <a:endParaRPr sz="1650">
              <a:solidFill>
                <a:schemeClr val="dk1"/>
              </a:solidFill>
            </a:endParaRPr>
          </a:p>
          <a:p>
            <a:pPr indent="-33337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○"/>
            </a:pPr>
            <a:r>
              <a:rPr lang="en" sz="1650">
                <a:solidFill>
                  <a:schemeClr val="dk1"/>
                </a:solidFill>
              </a:rPr>
              <a:t>Customer sentiment scores</a:t>
            </a:r>
            <a:endParaRPr sz="1650">
              <a:solidFill>
                <a:schemeClr val="dk1"/>
              </a:solidFill>
            </a:endParaRPr>
          </a:p>
          <a:p>
            <a:pPr indent="-33337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○"/>
            </a:pPr>
            <a:r>
              <a:rPr lang="en" sz="1650">
                <a:solidFill>
                  <a:schemeClr val="dk1"/>
                </a:solidFill>
              </a:rPr>
              <a:t>Scores over time</a:t>
            </a:r>
            <a:endParaRPr sz="1650"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620700" y="603350"/>
            <a:ext cx="2751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FF0000"/>
                </a:solidFill>
              </a:rPr>
              <a:t>C</a:t>
            </a:r>
            <a:r>
              <a:rPr b="1" lang="en" sz="2900">
                <a:solidFill>
                  <a:srgbClr val="FF0000"/>
                </a:solidFill>
              </a:rPr>
              <a:t>ore Problem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4572000" y="603350"/>
            <a:ext cx="17901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82BC00"/>
                </a:solidFill>
              </a:rPr>
              <a:t>Solution</a:t>
            </a:r>
            <a:r>
              <a:rPr lang="en" sz="1100">
                <a:solidFill>
                  <a:srgbClr val="82BC00"/>
                </a:solidFill>
              </a:rPr>
              <a:t> </a:t>
            </a:r>
            <a:endParaRPr>
              <a:solidFill>
                <a:srgbClr val="82BC00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9894" y="10847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Impetus of Project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055425" y="1355150"/>
            <a:ext cx="34047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Centralized customer experience </a:t>
            </a:r>
            <a:r>
              <a:rPr b="1" lang="en" sz="1650">
                <a:solidFill>
                  <a:schemeClr val="dk1"/>
                </a:solidFill>
              </a:rPr>
              <a:t>analytics dashboard</a:t>
            </a:r>
            <a:endParaRPr b="1" sz="1650">
              <a:solidFill>
                <a:schemeClr val="dk1"/>
              </a:solidFill>
            </a:endParaRPr>
          </a:p>
          <a:p>
            <a:pPr indent="-333375" lvl="0" marL="457200" marR="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Provides continuous, up-to-date visibility into performance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Enables monitoring of trends and store-level performance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Integrates customer feedback and complaint tracking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Supports early identification of issues and proactive intervention</a:t>
            </a:r>
            <a:endParaRPr sz="1650">
              <a:solidFill>
                <a:schemeClr val="dk1"/>
              </a:solidFill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79125"/>
            <a:ext cx="9144000" cy="16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Mission Statement</a:t>
            </a:r>
            <a:endParaRPr b="1" sz="3100"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6200" y="255200"/>
            <a:ext cx="2002450" cy="23165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585325"/>
            <a:ext cx="7627800" cy="23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 Design and demonstrate a centralized customer experience </a:t>
            </a:r>
            <a:r>
              <a:rPr b="1" lang="en">
                <a:solidFill>
                  <a:schemeClr val="dk1"/>
                </a:solidFill>
              </a:rPr>
              <a:t>analytics solution</a:t>
            </a:r>
            <a:r>
              <a:rPr lang="en">
                <a:solidFill>
                  <a:schemeClr val="dk1"/>
                </a:solidFill>
              </a:rPr>
              <a:t> for Salsarita’s Fresh Mexican Grill that i</a:t>
            </a:r>
            <a:r>
              <a:rPr b="1" lang="en">
                <a:solidFill>
                  <a:schemeClr val="dk1"/>
                </a:solidFill>
              </a:rPr>
              <a:t>mproves visibility</a:t>
            </a:r>
            <a:r>
              <a:rPr lang="en">
                <a:solidFill>
                  <a:schemeClr val="dk1"/>
                </a:solidFill>
              </a:rPr>
              <a:t> into customer experience survey performance, </a:t>
            </a:r>
            <a:r>
              <a:rPr b="1" lang="en">
                <a:solidFill>
                  <a:schemeClr val="dk1"/>
                </a:solidFill>
              </a:rPr>
              <a:t>strengthens customer service tracking</a:t>
            </a:r>
            <a:r>
              <a:rPr lang="en">
                <a:solidFill>
                  <a:schemeClr val="dk1"/>
                </a:solidFill>
              </a:rPr>
              <a:t>, and enables more timely, </a:t>
            </a:r>
            <a:r>
              <a:rPr b="1" lang="en">
                <a:solidFill>
                  <a:schemeClr val="dk1"/>
                </a:solidFill>
              </a:rPr>
              <a:t>data-driven decision making.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5" y="4872430"/>
            <a:ext cx="9144000" cy="383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/>
              <a:t>Project Objectives</a:t>
            </a:r>
            <a:endParaRPr b="1" sz="2900"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6425" y="156300"/>
            <a:ext cx="2002450" cy="23165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991971" y="1607492"/>
            <a:ext cx="6685800" cy="21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Increase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frequency</a:t>
            </a:r>
            <a:r>
              <a:rPr lang="en">
                <a:solidFill>
                  <a:schemeClr val="dk1"/>
                </a:solidFill>
              </a:rPr>
              <a:t> of </a:t>
            </a:r>
            <a:r>
              <a:rPr lang="en">
                <a:solidFill>
                  <a:srgbClr val="FF0000"/>
                </a:solidFill>
              </a:rPr>
              <a:t>customer experience scores</a:t>
            </a:r>
            <a:r>
              <a:rPr lang="en"/>
              <a:t>.</a:t>
            </a:r>
            <a:r>
              <a:rPr lang="en">
                <a:solidFill>
                  <a:schemeClr val="dk1"/>
                </a:solidFill>
              </a:rPr>
              <a:t> From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semiannual → weekly ~ 3 months.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Reduce </a:t>
            </a:r>
            <a:r>
              <a:rPr lang="en">
                <a:solidFill>
                  <a:schemeClr val="dk1"/>
                </a:solidFill>
              </a:rPr>
              <a:t>number of</a:t>
            </a:r>
            <a:r>
              <a:rPr lang="en"/>
              <a:t> </a:t>
            </a:r>
            <a:r>
              <a:rPr lang="en">
                <a:solidFill>
                  <a:srgbClr val="FF0000"/>
                </a:solidFill>
              </a:rPr>
              <a:t>compensation coupons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issued for unsresolved service complaints by 50% ~ 6 months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Enable</a:t>
            </a:r>
            <a:r>
              <a:rPr lang="en">
                <a:solidFill>
                  <a:schemeClr val="dk1"/>
                </a:solidFill>
              </a:rPr>
              <a:t> identification of declining store-level</a:t>
            </a:r>
            <a:r>
              <a:rPr lang="en"/>
              <a:t> </a:t>
            </a:r>
            <a:r>
              <a:rPr lang="en">
                <a:solidFill>
                  <a:srgbClr val="FF0000"/>
                </a:solidFill>
              </a:rPr>
              <a:t>customer sentiment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within one week of occurrence ~ 3 months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85224"/>
            <a:ext cx="9144000" cy="158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823739" y="381550"/>
            <a:ext cx="658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/>
              <a:t>Deliverables → Objective Alignment</a:t>
            </a:r>
            <a:endParaRPr b="1" sz="2900"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375" y="0"/>
            <a:ext cx="1530625" cy="177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85224"/>
            <a:ext cx="9144000" cy="158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" name="Google Shape;108;p19"/>
          <p:cNvGraphicFramePr/>
          <p:nvPr/>
        </p:nvGraphicFramePr>
        <p:xfrm>
          <a:off x="778375" y="112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{67EBB64A-A87D-4475-B208-123F2DD38D1E}</a:tableStyleId>
              </a:tblPr>
              <a:tblGrid>
                <a:gridCol w="1714200"/>
                <a:gridCol w="2321775"/>
                <a:gridCol w="2734050"/>
              </a:tblGrid>
              <a:tr h="31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Deliverable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Key Feature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Objective Supported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60E9F"/>
                          </a:solidFill>
                        </a:rPr>
                        <a:t>Dashboard</a:t>
                      </a:r>
                      <a:endParaRPr b="1" sz="1200">
                        <a:solidFill>
                          <a:srgbClr val="060E9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Real-time data visualization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Increase insight frequency (semiannual → weekly)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60E9F"/>
                          </a:solidFill>
                        </a:rPr>
                        <a:t>Dashboard</a:t>
                      </a:r>
                      <a:endParaRPr b="1" sz="1200">
                        <a:solidFill>
                          <a:srgbClr val="060E9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Trend analysis (time series)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Identify declining performance within one week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60E9F"/>
                          </a:solidFill>
                        </a:rPr>
                        <a:t>Dashboard</a:t>
                      </a:r>
                      <a:endParaRPr b="1" sz="1200">
                        <a:solidFill>
                          <a:srgbClr val="060E9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Complaint tracking &amp; sentiment analysis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Reduce repeat customer issues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82BC00"/>
                          </a:solidFill>
                        </a:rPr>
                        <a:t>User Manual</a:t>
                      </a:r>
                      <a:endParaRPr b="1" sz="1200">
                        <a:solidFill>
                          <a:srgbClr val="82BC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Step-by-step instructions + plain language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Ensure usability and adoption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818386"/>
                          </a:solidFill>
                        </a:rPr>
                        <a:t>Recommendation Report</a:t>
                      </a:r>
                      <a:endParaRPr b="1" sz="1200">
                        <a:solidFill>
                          <a:srgbClr val="818386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Suggestions for 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improving research methods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Support strategic decision-making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0" y="-1962"/>
            <a:ext cx="29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10">
                <a:solidFill>
                  <a:schemeClr val="dk2"/>
                </a:solidFill>
              </a:rPr>
              <a:t>Deliverables</a:t>
            </a:r>
            <a:endParaRPr b="1" sz="2410">
              <a:solidFill>
                <a:schemeClr val="dk2"/>
              </a:solidFill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" y="4872430"/>
            <a:ext cx="9144000" cy="38353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>
            <p:ph type="title"/>
          </p:nvPr>
        </p:nvSpPr>
        <p:spPr>
          <a:xfrm>
            <a:off x="3470050" y="156325"/>
            <a:ext cx="232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920">
                <a:solidFill>
                  <a:srgbClr val="060E9F"/>
                </a:solidFill>
              </a:rPr>
              <a:t>Dashboard</a:t>
            </a:r>
            <a:endParaRPr b="1" sz="2920">
              <a:solidFill>
                <a:srgbClr val="060E9F"/>
              </a:solidFill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4888" y="845200"/>
            <a:ext cx="6354226" cy="3838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0" y="7930"/>
            <a:ext cx="29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10">
                <a:solidFill>
                  <a:schemeClr val="dk2"/>
                </a:solidFill>
              </a:rPr>
              <a:t>Deliverables</a:t>
            </a:r>
            <a:endParaRPr b="1" sz="2410">
              <a:solidFill>
                <a:schemeClr val="dk2"/>
              </a:solidFill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" y="4872430"/>
            <a:ext cx="9144000" cy="383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6425" y="156300"/>
            <a:ext cx="2002450" cy="231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>
            <p:ph type="title"/>
          </p:nvPr>
        </p:nvSpPr>
        <p:spPr>
          <a:xfrm>
            <a:off x="3410700" y="276225"/>
            <a:ext cx="232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920">
                <a:solidFill>
                  <a:srgbClr val="060E9F"/>
                </a:solidFill>
              </a:rPr>
              <a:t>Dashboard</a:t>
            </a:r>
            <a:endParaRPr b="1" sz="2920">
              <a:solidFill>
                <a:srgbClr val="060E9F"/>
              </a:solidFill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455000" y="1097925"/>
            <a:ext cx="3711300" cy="3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Interactive filters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Year and store selection for targeted analysis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Customer sentiment overview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Real-time average and historical trends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Enables quick performance assessment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Survey performance comparison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Identifies strengths and weaknesses across service areas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7250" y="1586907"/>
            <a:ext cx="2914800" cy="1589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3400" y="3412125"/>
            <a:ext cx="2718800" cy="12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0" y="7930"/>
            <a:ext cx="29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10">
                <a:solidFill>
                  <a:schemeClr val="dk2"/>
                </a:solidFill>
              </a:rPr>
              <a:t>Deliverables</a:t>
            </a:r>
            <a:endParaRPr b="1" sz="2410">
              <a:solidFill>
                <a:schemeClr val="dk2"/>
              </a:solidFill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" y="4872430"/>
            <a:ext cx="9144000" cy="383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1225" y="0"/>
            <a:ext cx="1562775" cy="180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 txBox="1"/>
          <p:nvPr>
            <p:ph type="title"/>
          </p:nvPr>
        </p:nvSpPr>
        <p:spPr>
          <a:xfrm>
            <a:off x="3410700" y="276225"/>
            <a:ext cx="232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920">
                <a:solidFill>
                  <a:srgbClr val="060E9F"/>
                </a:solidFill>
              </a:rPr>
              <a:t>Dashboard</a:t>
            </a:r>
            <a:endParaRPr b="1" sz="2920">
              <a:solidFill>
                <a:srgbClr val="060E9F"/>
              </a:solidFill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80400" y="1059775"/>
            <a:ext cx="44916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Trend analysis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Tracks </a:t>
            </a:r>
            <a:r>
              <a:rPr lang="en" sz="1500">
                <a:solidFill>
                  <a:schemeClr val="dk1"/>
                </a:solidFill>
              </a:rPr>
              <a:t>changes</a:t>
            </a:r>
            <a:r>
              <a:rPr lang="en" sz="1500">
                <a:solidFill>
                  <a:schemeClr val="dk1"/>
                </a:solidFill>
              </a:rPr>
              <a:t> over time to detect performance shifts early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Store-level performance insights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Top and bottom performers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Supports prioritization of interventions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Heatmap visualization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Highlights high and low performance across stores and categories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Enables fast identification of problem areas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Word cloud displays customer sentiment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5">
            <a:alphaModFix/>
          </a:blip>
          <a:srcRect b="6651" l="0" r="17939" t="6867"/>
          <a:stretch/>
        </p:blipFill>
        <p:spPr>
          <a:xfrm>
            <a:off x="4892600" y="1979975"/>
            <a:ext cx="3427538" cy="217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0" y="7930"/>
            <a:ext cx="29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10">
                <a:solidFill>
                  <a:schemeClr val="dk2"/>
                </a:solidFill>
              </a:rPr>
              <a:t>Deliverables</a:t>
            </a:r>
            <a:endParaRPr b="1" sz="2410">
              <a:solidFill>
                <a:schemeClr val="dk2"/>
              </a:solidFill>
            </a:endParaRPr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" y="4872430"/>
            <a:ext cx="9144000" cy="383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6425" y="156300"/>
            <a:ext cx="2002450" cy="231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>
            <p:ph type="title"/>
          </p:nvPr>
        </p:nvSpPr>
        <p:spPr>
          <a:xfrm>
            <a:off x="3262330" y="276225"/>
            <a:ext cx="260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920">
                <a:solidFill>
                  <a:srgbClr val="060E9F"/>
                </a:solidFill>
              </a:rPr>
              <a:t>User Manual</a:t>
            </a:r>
            <a:endParaRPr b="1" sz="2920">
              <a:solidFill>
                <a:srgbClr val="060E9F"/>
              </a:solidFill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931225" y="1427400"/>
            <a:ext cx="6228600" cy="2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User Manual Design and Structure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Developed to support end users of the Power BI dashboard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Clear, concise, and easy-to-follow instructions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Includes step-by-step guidance for: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Installing Power BI and opening the dashboard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Navigating and understanding dashboard sections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Organized with headings, bullet points, and simple language 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0" y="7930"/>
            <a:ext cx="29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10">
                <a:solidFill>
                  <a:schemeClr val="dk2"/>
                </a:solidFill>
              </a:rPr>
              <a:t>Deliverables</a:t>
            </a:r>
            <a:endParaRPr b="1" sz="2410">
              <a:solidFill>
                <a:schemeClr val="dk2"/>
              </a:solidFill>
            </a:endParaRPr>
          </a:p>
        </p:txBody>
      </p:sp>
      <p:pic>
        <p:nvPicPr>
          <p:cNvPr id="152" name="Google Shape;1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" y="4872430"/>
            <a:ext cx="9144000" cy="383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6425" y="156300"/>
            <a:ext cx="2002450" cy="231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 txBox="1"/>
          <p:nvPr>
            <p:ph type="title"/>
          </p:nvPr>
        </p:nvSpPr>
        <p:spPr>
          <a:xfrm>
            <a:off x="3262330" y="276225"/>
            <a:ext cx="260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920">
                <a:solidFill>
                  <a:srgbClr val="060E9F"/>
                </a:solidFill>
              </a:rPr>
              <a:t>User Manual</a:t>
            </a:r>
            <a:endParaRPr b="1" sz="2920">
              <a:solidFill>
                <a:srgbClr val="060E9F"/>
              </a:solidFill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1049900" y="1548600"/>
            <a:ext cx="66162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Dashboard Usage and Maintenance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Explains all dashboard sections (filters, trends, store performance, heatmap)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Helps users interpret customer sentiment and make decisions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Includes instructions for </a:t>
            </a:r>
            <a:r>
              <a:rPr b="1" lang="en" sz="1500">
                <a:solidFill>
                  <a:schemeClr val="dk1"/>
                </a:solidFill>
              </a:rPr>
              <a:t>monthly SMG data updates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Download survey data from SMG system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Load file into Power BI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Refresh dashboard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Supported with visuals/screenshots for each step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0" y="7930"/>
            <a:ext cx="29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10">
                <a:solidFill>
                  <a:srgbClr val="818386"/>
                </a:solidFill>
              </a:rPr>
              <a:t>Deliverables</a:t>
            </a:r>
            <a:endParaRPr b="1" sz="2410">
              <a:solidFill>
                <a:srgbClr val="818386"/>
              </a:solidFill>
            </a:endParaRPr>
          </a:p>
        </p:txBody>
      </p:sp>
      <p:pic>
        <p:nvPicPr>
          <p:cNvPr id="161" name="Google Shape;16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" y="4872430"/>
            <a:ext cx="9144000" cy="383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6425" y="156300"/>
            <a:ext cx="2002450" cy="231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 txBox="1"/>
          <p:nvPr>
            <p:ph type="title"/>
          </p:nvPr>
        </p:nvSpPr>
        <p:spPr>
          <a:xfrm>
            <a:off x="2112150" y="444375"/>
            <a:ext cx="491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920">
                <a:solidFill>
                  <a:srgbClr val="060E9F"/>
                </a:solidFill>
              </a:rPr>
              <a:t>Recommendations</a:t>
            </a:r>
            <a:r>
              <a:rPr b="1" lang="en" sz="2920">
                <a:solidFill>
                  <a:srgbClr val="060E9F"/>
                </a:solidFill>
              </a:rPr>
              <a:t> Report</a:t>
            </a:r>
            <a:endParaRPr b="1" sz="2920">
              <a:solidFill>
                <a:srgbClr val="060E9F"/>
              </a:solidFill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610225" y="1342500"/>
            <a:ext cx="6260400" cy="30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Purpose:</a:t>
            </a:r>
            <a:r>
              <a:rPr lang="en" sz="1500">
                <a:solidFill>
                  <a:schemeClr val="dk1"/>
                </a:solidFill>
              </a:rPr>
              <a:t> Offers recommendations for improving insights from customer survey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Options</a:t>
            </a:r>
            <a:r>
              <a:rPr lang="en" sz="1500">
                <a:solidFill>
                  <a:schemeClr val="dk1"/>
                </a:solidFill>
              </a:rPr>
              <a:t>: Present 3 options for client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1. Increase knowledge of research techniques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2. Adopt Net Promoter Score (NPS) infrastructure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3. Embrace both approaches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Recommendation</a:t>
            </a:r>
            <a:r>
              <a:rPr lang="en" sz="1500">
                <a:solidFill>
                  <a:schemeClr val="dk1"/>
                </a:solidFill>
              </a:rPr>
              <a:t>: Suggested Option 3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Easily implemented with low-cost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Highlights </a:t>
            </a:r>
            <a:r>
              <a:rPr lang="en" sz="1500">
                <a:solidFill>
                  <a:schemeClr val="dk1"/>
                </a:solidFill>
              </a:rPr>
              <a:t>transferability of</a:t>
            </a:r>
            <a:r>
              <a:rPr lang="en" sz="1500">
                <a:solidFill>
                  <a:schemeClr val="dk1"/>
                </a:solidFill>
              </a:rPr>
              <a:t> survey structure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Encourages more accurate business interventions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/>
              <a:t>Rhetorical</a:t>
            </a:r>
            <a:r>
              <a:rPr b="1" lang="en" sz="2900"/>
              <a:t> &amp; Design Strategies</a:t>
            </a:r>
            <a:endParaRPr b="1" sz="2900"/>
          </a:p>
        </p:txBody>
      </p:sp>
      <p:pic>
        <p:nvPicPr>
          <p:cNvPr id="170" name="Google Shape;1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6425" y="156300"/>
            <a:ext cx="2002450" cy="231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85224"/>
            <a:ext cx="9144000" cy="1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 txBox="1"/>
          <p:nvPr/>
        </p:nvSpPr>
        <p:spPr>
          <a:xfrm>
            <a:off x="911225" y="1260950"/>
            <a:ext cx="6025200" cy="3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Dashboard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Designed for quick decision-making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Visual hierarchy highlights critical data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Minimal text, high visual clarity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User Manual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Plain language for accessibility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Step-by-step structure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Visual aids to reduce user error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Report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Structured argument format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Data-supported recommendations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Clear and personable communication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3904"/>
              <a:buFont typeface="Arial"/>
              <a:buNone/>
            </a:pPr>
            <a:r>
              <a:rPr b="1" lang="en" sz="2920"/>
              <a:t>Key </a:t>
            </a:r>
            <a:r>
              <a:rPr b="1" lang="en" sz="2920"/>
              <a:t>Takeaways</a:t>
            </a:r>
            <a:endParaRPr b="1" sz="2920"/>
          </a:p>
        </p:txBody>
      </p:sp>
      <p:pic>
        <p:nvPicPr>
          <p:cNvPr id="178" name="Google Shape;17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1550" y="0"/>
            <a:ext cx="2002450" cy="231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79125"/>
            <a:ext cx="9144000" cy="16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7"/>
          <p:cNvSpPr txBox="1"/>
          <p:nvPr/>
        </p:nvSpPr>
        <p:spPr>
          <a:xfrm>
            <a:off x="1186600" y="1541300"/>
            <a:ext cx="6271800" cy="28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Lessons Learned: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Early</a:t>
            </a:r>
            <a:r>
              <a:rPr lang="en" sz="1500">
                <a:solidFill>
                  <a:schemeClr val="dk2"/>
                </a:solidFill>
              </a:rPr>
              <a:t> </a:t>
            </a:r>
            <a:r>
              <a:rPr lang="en" sz="1500">
                <a:solidFill>
                  <a:srgbClr val="FF0000"/>
                </a:solidFill>
              </a:rPr>
              <a:t>alignment on metrics</a:t>
            </a:r>
            <a:r>
              <a:rPr lang="en" sz="1500">
                <a:solidFill>
                  <a:schemeClr val="dk2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is critical → Promoter &amp; detractors definition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Structured task planning improves execution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" sz="1500">
                <a:solidFill>
                  <a:srgbClr val="FF0000"/>
                </a:solidFill>
              </a:rPr>
              <a:t>Technical constraints</a:t>
            </a:r>
            <a:r>
              <a:rPr lang="en" sz="1500">
                <a:solidFill>
                  <a:schemeClr val="dk2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must be anticipated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Collaboration Insight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Constraints required </a:t>
            </a:r>
            <a:r>
              <a:rPr lang="en" sz="1500">
                <a:solidFill>
                  <a:srgbClr val="82BC00"/>
                </a:solidFill>
              </a:rPr>
              <a:t>cross-team coordination</a:t>
            </a:r>
            <a:endParaRPr sz="1500">
              <a:solidFill>
                <a:srgbClr val="82BC00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Manual development</a:t>
            </a:r>
            <a:r>
              <a:rPr lang="en" sz="1500">
                <a:solidFill>
                  <a:schemeClr val="dk2"/>
                </a:solidFill>
              </a:rPr>
              <a:t> </a:t>
            </a:r>
            <a:r>
              <a:rPr lang="en" sz="1500">
                <a:solidFill>
                  <a:srgbClr val="82BC00"/>
                </a:solidFill>
              </a:rPr>
              <a:t>validated</a:t>
            </a:r>
            <a:r>
              <a:rPr lang="en" sz="1500">
                <a:solidFill>
                  <a:schemeClr val="dk2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dashboard</a:t>
            </a:r>
            <a:r>
              <a:rPr lang="en" sz="1500">
                <a:solidFill>
                  <a:schemeClr val="dk2"/>
                </a:solidFill>
              </a:rPr>
              <a:t> </a:t>
            </a:r>
            <a:r>
              <a:rPr lang="en" sz="1500">
                <a:solidFill>
                  <a:srgbClr val="82BC00"/>
                </a:solidFill>
              </a:rPr>
              <a:t>functionality</a:t>
            </a:r>
            <a:endParaRPr sz="1500">
              <a:solidFill>
                <a:srgbClr val="82BC00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" sz="1500">
                <a:solidFill>
                  <a:srgbClr val="82BC00"/>
                </a:solidFill>
              </a:rPr>
              <a:t>Feedback</a:t>
            </a:r>
            <a:r>
              <a:rPr lang="en" sz="1500">
                <a:solidFill>
                  <a:schemeClr val="dk2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improved both dashboard and documentation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Key Insight: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60E9F"/>
                </a:solidFill>
              </a:rPr>
              <a:t>Integrated teamwork enhances deliverable quality</a:t>
            </a:r>
            <a:endParaRPr sz="1500">
              <a:solidFill>
                <a:srgbClr val="060E9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/>
        </p:nvSpPr>
        <p:spPr>
          <a:xfrm>
            <a:off x="2607600" y="1988175"/>
            <a:ext cx="3928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dk1"/>
                </a:solidFill>
              </a:rPr>
              <a:t>Thank You!</a:t>
            </a:r>
            <a:endParaRPr b="1" sz="5000">
              <a:solidFill>
                <a:schemeClr val="dk1"/>
              </a:solidFill>
            </a:endParaRPr>
          </a:p>
        </p:txBody>
      </p:sp>
      <p:pic>
        <p:nvPicPr>
          <p:cNvPr id="186" name="Google Shape;18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0350" y="182075"/>
            <a:ext cx="2302800" cy="2664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050" y="3818775"/>
            <a:ext cx="2698275" cy="107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